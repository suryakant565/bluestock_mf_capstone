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17"/>
  </p:notesMasterIdLst>
  <p:handoutMasterIdLst>
    <p:handoutMasterId r:id="rId18"/>
  </p:handoutMasterIdLst>
  <p:sldIdLst>
    <p:sldId id="312" r:id="rId5"/>
    <p:sldId id="304" r:id="rId6"/>
    <p:sldId id="307" r:id="rId7"/>
    <p:sldId id="281" r:id="rId8"/>
    <p:sldId id="282" r:id="rId9"/>
    <p:sldId id="314" r:id="rId10"/>
    <p:sldId id="315" r:id="rId11"/>
    <p:sldId id="317" r:id="rId12"/>
    <p:sldId id="318" r:id="rId13"/>
    <p:sldId id="319" r:id="rId14"/>
    <p:sldId id="321" r:id="rId15"/>
    <p:sldId id="297" r:id="rId16"/>
  </p:sldIdLst>
  <p:sldSz cx="12192000" cy="6858000"/>
  <p:notesSz cx="13716000" cy="2438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C8F"/>
    <a:srgbClr val="FDFBF6"/>
    <a:srgbClr val="AAC4E9"/>
    <a:srgbClr val="F5CDCE"/>
    <a:srgbClr val="DF8C8C"/>
    <a:srgbClr val="D4D593"/>
    <a:srgbClr val="E6F0FE"/>
    <a:srgbClr val="CDBE8A"/>
    <a:srgbClr val="FFEFEF"/>
    <a:srgbClr val="FCF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5388" autoAdjust="0"/>
  </p:normalViewPr>
  <p:slideViewPr>
    <p:cSldViewPr snapToGrid="0" snapToObjects="1">
      <p:cViewPr>
        <p:scale>
          <a:sx n="63" d="100"/>
          <a:sy n="63" d="100"/>
        </p:scale>
        <p:origin x="804" y="56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25" d="100"/>
          <a:sy n="25" d="100"/>
        </p:scale>
        <p:origin x="348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970FB6-164E-0840-A35B-09E9F3D45F76}" type="datetimeyyyy">
              <a:rPr lang="en-US" smtClean="0"/>
              <a:t>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0BD0AB-C59E-4A46-83D3-F07787446BA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7654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77361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49312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6530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93977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6670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7422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9146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45417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013870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76683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307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4" name="Image 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50000"/>
              </a:lnSpc>
              <a:spcBef>
                <a:spcPts val="0"/>
              </a:spcBef>
              <a:defRPr sz="2000"/>
            </a:lvl2pPr>
            <a:lvl3pPr marL="685800">
              <a:lnSpc>
                <a:spcPct val="150000"/>
              </a:lnSpc>
              <a:spcBef>
                <a:spcPts val="0"/>
              </a:spcBef>
              <a:defRPr sz="18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Freeform: Shape 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15" name="Freeform: Shape 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Image 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anchor="ctr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33189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text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2" name="Picture Placeholder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mage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9" name="Freeform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1" name="Freeform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3" name="Image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anchor="b" anchorCtr="0">
            <a:noAutofit/>
          </a:bodyPr>
          <a:lstStyle>
            <a:lvl1pPr algn="l">
              <a:lnSpc>
                <a:spcPct val="100000"/>
              </a:lnSpc>
              <a:defRPr sz="36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Slide Number Placeholder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Image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3" name="Image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Image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9" name="Image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1629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Slide Number Placeholder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86733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indent="-283464">
              <a:spcBef>
                <a:spcPts val="1000"/>
              </a:spcBef>
              <a:defRPr sz="1800"/>
            </a:lvl2pPr>
            <a:lvl3pPr indent="-283464">
              <a:spcBef>
                <a:spcPts val="1000"/>
              </a:spcBef>
              <a:defRPr sz="1800"/>
            </a:lvl3pPr>
            <a:lvl4pPr indent="-283464">
              <a:spcBef>
                <a:spcPts val="1000"/>
              </a:spcBef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Freeform: Shape 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21" name="Freeform: Shape 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Freeform: Shape 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Image 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4" name="Slide Number Placeholder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620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28259CF0-6BC5-3693-6F49-C4489C07C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6" name="Image 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5665DA82-D253-8EC5-5DFB-F0266ED9F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pic>
        <p:nvPicPr>
          <p:cNvPr id="21" name="Image 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Freeform 11">
            <a:extLst>
              <a:ext uri="{FF2B5EF4-FFF2-40B4-BE49-F238E27FC236}">
                <a16:creationId xmlns:a16="http://schemas.microsoft.com/office/drawing/2014/main" id="{E76518D4-6149-BA03-3BE5-6A13A792C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104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D014917C-8694-B4A4-A211-0F31F00E2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A7DB6972-BB75-254A-BA88-C0C3E6E93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Image 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Text Placeholder 54">
            <a:extLst>
              <a:ext uri="{FF2B5EF4-FFF2-40B4-BE49-F238E27FC236}">
                <a16:creationId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/>
            </a:lvl1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95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phic 28">
            <a:extLst>
              <a:ext uri="{FF2B5EF4-FFF2-40B4-BE49-F238E27FC236}">
                <a16:creationId xmlns:a16="http://schemas.microsoft.com/office/drawing/2014/main" id="{D5595DD5-43B0-252F-8BC6-6B74340C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BC3A3767-6C5E-8188-0A49-955BBACE3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7" name="Slide Number Placeholder 2">
            <a:extLst>
              <a:ext uri="{FF2B5EF4-FFF2-40B4-BE49-F238E27FC236}">
                <a16:creationId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C6639AD7-128F-B39D-B45F-0F22A2C6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48479A23-C29C-C711-510C-05B69B882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1443" r="10857"/>
          <a:stretch/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Image 2">
            <a:extLst>
              <a:ext uri="{FF2B5EF4-FFF2-40B4-BE49-F238E27FC236}">
                <a16:creationId xmlns:a16="http://schemas.microsoft.com/office/drawing/2014/main" id="{F3DC42FA-4B8F-2EFC-CAB4-1CCAB93B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650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/>
          <a:lstStyle>
            <a:lvl1pPr algn="ctr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508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9" name="Image 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C6B5F91-ABF5-D0B6-E43F-40CEDC3A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2D64F1-27B6-A1E5-4F44-A6029FAB3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anchor="ctr" anchorCtr="0"/>
          <a:lstStyle/>
          <a:p>
            <a:r>
              <a:rPr lang="en-US" dirty="0"/>
              <a:t>Click to add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626DE4B-D4E5-B36A-89FA-7C0E87AFC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5243571-BE64-3777-F992-88FC43A60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DFAE2CB-0EAD-E788-FCB7-FB12F6939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8952" y="758952"/>
            <a:ext cx="3932237" cy="1524662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58952" y="2286000"/>
            <a:ext cx="3932237" cy="356708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7" y="741459"/>
            <a:ext cx="6242839" cy="51195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AA6B609-D718-DB49-892F-7E49376CC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0938" y="755372"/>
            <a:ext cx="3931920" cy="1527048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60938" y="2286001"/>
            <a:ext cx="393192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262700" y="987425"/>
            <a:ext cx="6172200" cy="4873625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accent6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80" r:id="rId3"/>
    <p:sldLayoutId id="2147483653" r:id="rId4"/>
    <p:sldLayoutId id="2147483668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1" r:id="rId11"/>
    <p:sldLayoutId id="2147483692" r:id="rId12"/>
    <p:sldLayoutId id="2147483676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sz="38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7FF65-A536-F639-8591-ED024C2233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99790" y="810227"/>
            <a:ext cx="6392421" cy="3831221"/>
          </a:xfrm>
        </p:spPr>
        <p:txBody>
          <a:bodyPr anchor="ctr"/>
          <a:lstStyle/>
          <a:p>
            <a:r>
              <a:rPr lang="en-US" dirty="0" err="1"/>
              <a:t>Bluestock</a:t>
            </a:r>
            <a:br>
              <a:rPr lang="en-US" dirty="0"/>
            </a:br>
            <a:r>
              <a:rPr lang="en-US" dirty="0"/>
              <a:t>fintech</a:t>
            </a:r>
            <a:br>
              <a:rPr lang="en-US" dirty="0"/>
            </a:br>
            <a:r>
              <a:rPr lang="en-US" dirty="0"/>
              <a:t>mutual fund analysis</a:t>
            </a:r>
          </a:p>
        </p:txBody>
      </p:sp>
    </p:spTree>
    <p:extLst>
      <p:ext uri="{BB962C8B-B14F-4D97-AF65-F5344CB8AC3E}">
        <p14:creationId xmlns:p14="http://schemas.microsoft.com/office/powerpoint/2010/main" val="2202437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21072-4A77-DB4D-DF41-58EADB7DA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040" y="-66991"/>
            <a:ext cx="5049520" cy="975360"/>
          </a:xfrm>
        </p:spPr>
        <p:txBody>
          <a:bodyPr/>
          <a:lstStyle/>
          <a:p>
            <a:r>
              <a:rPr lang="en-US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22962-3C7F-E480-5C35-7F4860A098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3040" y="1230968"/>
            <a:ext cx="6583680" cy="3207344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The objective of this project was to develop an end-to-end Mutual Fund Analytics Platform using Python, SQL, SQLite, and Power BI. The project aimed to analyze mutual fund performance, evaluate risk metrics, study investor behavior, assess portfolio concentration, build a recommendation system, and create interactive dashboards that transform raw financial data into meaningful insights for informed investment and business decision-making.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D5CFA2-4E67-F157-5FFD-A246307D41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47F538-A204-C9D9-24F3-C947AA33CC0F}"/>
              </a:ext>
            </a:extLst>
          </p:cNvPr>
          <p:cNvSpPr txBox="1"/>
          <p:nvPr/>
        </p:nvSpPr>
        <p:spPr>
          <a:xfrm>
            <a:off x="193040" y="4561840"/>
            <a:ext cx="39522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cap="all" dirty="0">
                <a:solidFill>
                  <a:schemeClr val="accent6"/>
                </a:solidFill>
                <a:latin typeface="+mj-lt"/>
                <a:ea typeface="+mj-ea"/>
                <a:cs typeface="+mj-cs"/>
              </a:rPr>
              <a:t>problems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A2A5C2-6D41-ADFA-74CA-A078FF5398AD}"/>
              </a:ext>
            </a:extLst>
          </p:cNvPr>
          <p:cNvSpPr txBox="1"/>
          <p:nvPr/>
        </p:nvSpPr>
        <p:spPr>
          <a:xfrm>
            <a:off x="193040" y="5208171"/>
            <a:ext cx="5293360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6"/>
                </a:solidFill>
              </a:rPr>
              <a:t>Investors and analysts lack a unified, programmatic view of mutual fund performance, risk, and investor behavior across the Indian market. Manual analysis is slow, error-prone, and non-scalable.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32197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EDA75-0988-2AC2-87F8-8DEC83A7B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800" y="-101600"/>
            <a:ext cx="5723586" cy="1239520"/>
          </a:xfrm>
        </p:spPr>
        <p:txBody>
          <a:bodyPr/>
          <a:lstStyle/>
          <a:p>
            <a:r>
              <a:rPr lang="en-US" dirty="0"/>
              <a:t>Data sources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35D5B82-F02D-E486-4BCF-C5D9E8D5A5DC}"/>
              </a:ext>
            </a:extLst>
          </p:cNvPr>
          <p:cNvSpPr txBox="1"/>
          <p:nvPr/>
        </p:nvSpPr>
        <p:spPr>
          <a:xfrm>
            <a:off x="558800" y="853440"/>
            <a:ext cx="8412480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AMFI NAV Data</a:t>
            </a:r>
          </a:p>
          <a:p>
            <a:r>
              <a:rPr lang="en-US" dirty="0"/>
              <a:t>Daily Net Asset Value records across all registered mutual fund schemes, enabling return calculations and performance tracking over time.</a:t>
            </a:r>
          </a:p>
          <a:p>
            <a:endParaRPr lang="en-US" dirty="0">
              <a:solidFill>
                <a:schemeClr val="accent6"/>
              </a:solidFill>
            </a:endParaRPr>
          </a:p>
          <a:p>
            <a:r>
              <a:rPr lang="en-US" dirty="0">
                <a:solidFill>
                  <a:schemeClr val="accent6"/>
                </a:solidFill>
              </a:rPr>
              <a:t>Fund Master Data</a:t>
            </a:r>
          </a:p>
          <a:p>
            <a:r>
              <a:rPr lang="en-US" dirty="0"/>
              <a:t>Static reference data including scheme names, categories, AMCs, inception dates, and benchmark mappings for all funds.</a:t>
            </a:r>
          </a:p>
          <a:p>
            <a:endParaRPr lang="en-US" dirty="0">
              <a:solidFill>
                <a:schemeClr val="accent6"/>
              </a:solidFill>
            </a:endParaRPr>
          </a:p>
          <a:p>
            <a:r>
              <a:rPr lang="en-US" dirty="0">
                <a:solidFill>
                  <a:schemeClr val="accent6"/>
                </a:solidFill>
              </a:rPr>
              <a:t>Investor Transactions</a:t>
            </a:r>
          </a:p>
          <a:p>
            <a:r>
              <a:rPr lang="en-US" dirty="0"/>
              <a:t>Individual purchase, redemption, and SIP transaction records enabling investor-level analytics and SIP continuity analysis.</a:t>
            </a:r>
          </a:p>
          <a:p>
            <a:endParaRPr lang="en-US" dirty="0">
              <a:solidFill>
                <a:schemeClr val="accent6"/>
              </a:solidFill>
            </a:endParaRPr>
          </a:p>
          <a:p>
            <a:r>
              <a:rPr lang="en-US" dirty="0">
                <a:solidFill>
                  <a:schemeClr val="accent6"/>
                </a:solidFill>
              </a:rPr>
              <a:t>Portfolio Holdings</a:t>
            </a:r>
          </a:p>
          <a:p>
            <a:r>
              <a:rPr lang="en-US" dirty="0"/>
              <a:t>Quarterly fund-level holdings data including sector, asset class, and security-level allocations for concentration analysis.</a:t>
            </a:r>
          </a:p>
          <a:p>
            <a:endParaRPr lang="en-US" dirty="0">
              <a:solidFill>
                <a:schemeClr val="accent6"/>
              </a:solidFill>
            </a:endParaRPr>
          </a:p>
          <a:p>
            <a:r>
              <a:rPr lang="en-US" dirty="0">
                <a:solidFill>
                  <a:schemeClr val="accent6"/>
                </a:solidFill>
              </a:rPr>
              <a:t>Benchmark Index Data</a:t>
            </a:r>
          </a:p>
          <a:p>
            <a:r>
              <a:rPr lang="en-US" dirty="0"/>
              <a:t>Daily index values for Nifty 50, Sensex, and category-specific benchmarks used for Alpha, Beta, and relative performance calculations.</a:t>
            </a:r>
          </a:p>
          <a:p>
            <a:endParaRPr lang="en-US" sz="1800" dirty="0"/>
          </a:p>
          <a:p>
            <a:endParaRPr lang="en-US" sz="18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64919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B219B-7E3A-7E84-6386-37313F0CF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193" y="579755"/>
            <a:ext cx="5259554" cy="720725"/>
          </a:xfrm>
        </p:spPr>
        <p:txBody>
          <a:bodyPr/>
          <a:lstStyle/>
          <a:p>
            <a:r>
              <a:rPr lang="en-US" dirty="0"/>
              <a:t>architecture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B4A6510-ED3F-45D7-3640-DB98D153470E}"/>
              </a:ext>
            </a:extLst>
          </p:cNvPr>
          <p:cNvSpPr txBox="1"/>
          <p:nvPr/>
        </p:nvSpPr>
        <p:spPr>
          <a:xfrm>
            <a:off x="556193" y="3683179"/>
            <a:ext cx="610616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Raw Data Sources</a:t>
            </a:r>
          </a:p>
          <a:p>
            <a:r>
              <a:rPr lang="en-US" dirty="0"/>
              <a:t>        ↓</a:t>
            </a:r>
          </a:p>
          <a:p>
            <a:r>
              <a:rPr lang="en-US" dirty="0"/>
              <a:t>Data Cleaning &amp; Transformation</a:t>
            </a:r>
          </a:p>
          <a:p>
            <a:r>
              <a:rPr lang="en-US" dirty="0"/>
              <a:t>        ↓</a:t>
            </a:r>
          </a:p>
          <a:p>
            <a:r>
              <a:rPr lang="en-US" dirty="0"/>
              <a:t>SQLite Database</a:t>
            </a:r>
          </a:p>
          <a:p>
            <a:r>
              <a:rPr lang="en-US" dirty="0"/>
              <a:t>        ↓</a:t>
            </a:r>
          </a:p>
          <a:p>
            <a:r>
              <a:rPr lang="en-US" dirty="0"/>
              <a:t>Analytics &amp; Risk Metrics</a:t>
            </a:r>
          </a:p>
          <a:p>
            <a:r>
              <a:rPr lang="en-US" dirty="0"/>
              <a:t>        ↓</a:t>
            </a:r>
          </a:p>
          <a:p>
            <a:r>
              <a:rPr lang="en-US" dirty="0"/>
              <a:t>Power BI Dashboard</a:t>
            </a:r>
          </a:p>
          <a:p>
            <a:r>
              <a:rPr lang="en-US" dirty="0"/>
              <a:t>        ↓</a:t>
            </a:r>
          </a:p>
          <a:p>
            <a:r>
              <a:rPr lang="en-US" dirty="0"/>
              <a:t>Reports &amp; Recommendations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85749A7-2D84-FCAA-0FC9-4EA9FDFCA20A}"/>
              </a:ext>
            </a:extLst>
          </p:cNvPr>
          <p:cNvSpPr txBox="1"/>
          <p:nvPr/>
        </p:nvSpPr>
        <p:spPr>
          <a:xfrm>
            <a:off x="556193" y="1522333"/>
            <a:ext cx="843788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accent6"/>
                </a:solidFill>
              </a:rPr>
              <a:t>The project follows a structured data analytics architecture where raw mutual fund datasets are collected, cleaned, transformed, and stored in a SQLite database. Python is used for ETL processing, performance analytics, and advanced risk analysis. The processed data supports Power BI dashboards, reports, and a recommendation system, enabling interactive visualization and data-driven investment insights.</a:t>
            </a:r>
          </a:p>
        </p:txBody>
      </p:sp>
    </p:spTree>
    <p:extLst>
      <p:ext uri="{BB962C8B-B14F-4D97-AF65-F5344CB8AC3E}">
        <p14:creationId xmlns:p14="http://schemas.microsoft.com/office/powerpoint/2010/main" val="29529238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E8954-9BCB-7FD9-A210-38DC54382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7445" y="195861"/>
            <a:ext cx="7965461" cy="994164"/>
          </a:xfrm>
        </p:spPr>
        <p:txBody>
          <a:bodyPr/>
          <a:lstStyle/>
          <a:p>
            <a:r>
              <a:rPr lang="en-US" dirty="0"/>
              <a:t>Data Quality &amp; Investor Demographics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111C33-898C-4414-4665-5136EB6FC1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627445" y="4243589"/>
            <a:ext cx="7965460" cy="2614411"/>
          </a:xfrm>
        </p:spPr>
        <p:txBody>
          <a:bodyPr/>
          <a:lstStyle/>
          <a:p>
            <a:r>
              <a:rPr lang="en-US" b="1" dirty="0"/>
              <a:t>Key Insights</a:t>
            </a:r>
          </a:p>
          <a:p>
            <a:r>
              <a:rPr lang="en-US" dirty="0"/>
              <a:t>• The </a:t>
            </a:r>
            <a:r>
              <a:rPr lang="en-US" b="1" dirty="0"/>
              <a:t>26–35 age group</a:t>
            </a:r>
            <a:r>
              <a:rPr lang="en-US" dirty="0"/>
              <a:t> represents the largest investor segment, contributing </a:t>
            </a:r>
            <a:r>
              <a:rPr lang="en-US" b="1" dirty="0"/>
              <a:t>41.1%</a:t>
            </a:r>
            <a:r>
              <a:rPr lang="en-US" dirty="0"/>
              <a:t> of total investors.</a:t>
            </a:r>
          </a:p>
          <a:p>
            <a:r>
              <a:rPr lang="en-US" dirty="0"/>
              <a:t>• Investors aged </a:t>
            </a:r>
            <a:r>
              <a:rPr lang="en-US" b="1" dirty="0"/>
              <a:t>36–45 years</a:t>
            </a:r>
            <a:r>
              <a:rPr lang="en-US" dirty="0"/>
              <a:t> account for </a:t>
            </a:r>
            <a:r>
              <a:rPr lang="en-US" b="1" dirty="0"/>
              <a:t>24.9%</a:t>
            </a:r>
            <a:r>
              <a:rPr lang="en-US" dirty="0"/>
              <a:t>, indicating strong participation from working professionals.</a:t>
            </a:r>
          </a:p>
          <a:p>
            <a:r>
              <a:rPr lang="en-US" dirty="0"/>
              <a:t>• Participation declines in older age groups, with investors aged </a:t>
            </a:r>
            <a:r>
              <a:rPr lang="en-US" b="1" dirty="0"/>
              <a:t>56+</a:t>
            </a:r>
            <a:r>
              <a:rPr lang="en-US" dirty="0"/>
              <a:t> contributing only </a:t>
            </a:r>
            <a:r>
              <a:rPr lang="en-US" b="1" dirty="0"/>
              <a:t>7.5%</a:t>
            </a:r>
            <a:r>
              <a:rPr lang="en-US" dirty="0"/>
              <a:t>, suggesting lower mutual fund adoption among senior investors.</a:t>
            </a:r>
          </a:p>
          <a:p>
            <a:endParaRPr lang="en-US" dirty="0"/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94FF72B7-0438-3641-5939-75128934B0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A363977-0E41-3949-3136-5A67E3A3F4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834" y="1277720"/>
            <a:ext cx="3748406" cy="2878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56810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10199-C129-11F0-56F2-2D1AED21C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1049" y="53497"/>
            <a:ext cx="7043617" cy="639446"/>
          </a:xfrm>
        </p:spPr>
        <p:txBody>
          <a:bodyPr/>
          <a:lstStyle/>
          <a:p>
            <a:r>
              <a:rPr lang="en-US" dirty="0"/>
              <a:t>AUM &amp; SIP Trends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70AEC4F-E711-8552-9C34-82C1514A1E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DD6BDC-E008-6AB7-55A1-46ED9BCF054F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3491049" y="5181042"/>
            <a:ext cx="7043618" cy="1623462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• Assets Under Management (AUM) increased steadily across all major fund houses from </a:t>
            </a:r>
            <a:r>
              <a:rPr lang="en-US" b="1" dirty="0"/>
              <a:t>2022 to 2025</a:t>
            </a:r>
            <a:r>
              <a:rPr lang="en-US" dirty="0"/>
              <a:t>, indicating sustained growth in the mutual fund industry.</a:t>
            </a:r>
          </a:p>
          <a:p>
            <a:r>
              <a:rPr lang="en-US" dirty="0"/>
              <a:t>• </a:t>
            </a:r>
            <a:r>
              <a:rPr lang="en-US" b="1" dirty="0"/>
              <a:t>SBI Mutual Fund, ICICI Prudential MF, and HDFC Mutual Fund</a:t>
            </a:r>
            <a:r>
              <a:rPr lang="en-US" dirty="0"/>
              <a:t> consistently maintained the highest AUM levels among fund houses.</a:t>
            </a:r>
          </a:p>
          <a:p>
            <a:r>
              <a:rPr lang="en-US" dirty="0"/>
              <a:t>• Monthly SIP inflows showed a strong upward trend, rising from approximately </a:t>
            </a:r>
            <a:r>
              <a:rPr lang="en-US" b="1" dirty="0"/>
              <a:t>₹11K Cr to ₹31K Cr</a:t>
            </a:r>
            <a:r>
              <a:rPr lang="en-US" dirty="0"/>
              <a:t>, reflecting increasing retail investor participation.</a:t>
            </a:r>
          </a:p>
          <a:p>
            <a:r>
              <a:rPr lang="en-US" dirty="0"/>
              <a:t>• The continuous growth in SIP investments suggests strong investor confidence and a preference for disciplined long-term wealth creation.</a:t>
            </a: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FE5900E-566C-328C-2952-5F3CC01123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1048" y="711757"/>
            <a:ext cx="8700951" cy="213304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CD83A47-4608-C928-4859-578A7407E9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1049" y="2946399"/>
            <a:ext cx="8700950" cy="2133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17180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A34A6-22BC-27A4-2C79-EE98A4943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1751"/>
            <a:ext cx="7796464" cy="995210"/>
          </a:xfrm>
        </p:spPr>
        <p:txBody>
          <a:bodyPr/>
          <a:lstStyle/>
          <a:p>
            <a:r>
              <a:rPr lang="en-US" dirty="0"/>
              <a:t>Risk-Adjusted Performance Analysis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267C004-8B72-C872-98FB-00A2A584D0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16" name="Content Placeholder 4">
            <a:extLst>
              <a:ext uri="{FF2B5EF4-FFF2-40B4-BE49-F238E27FC236}">
                <a16:creationId xmlns:a16="http://schemas.microsoft.com/office/drawing/2014/main" id="{AEF9954A-E263-8A7E-58B1-4D03F7D1BD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688080" y="3129051"/>
            <a:ext cx="5242560" cy="3759200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Key Points</a:t>
            </a:r>
          </a:p>
          <a:p>
            <a:r>
              <a:rPr lang="en-US" dirty="0"/>
              <a:t>• Sharpe Ratio was used to evaluate return generated per unit of risk.</a:t>
            </a:r>
          </a:p>
          <a:p>
            <a:r>
              <a:rPr lang="en-US" dirty="0"/>
              <a:t>• </a:t>
            </a:r>
            <a:r>
              <a:rPr lang="en-US" dirty="0" err="1"/>
              <a:t>Sortino</a:t>
            </a:r>
            <a:r>
              <a:rPr lang="en-US" dirty="0"/>
              <a:t> Ratio measured performance considering downside risk only.</a:t>
            </a:r>
          </a:p>
          <a:p>
            <a:r>
              <a:rPr lang="en-US" dirty="0"/>
              <a:t>• Alpha identified funds that outperformed benchmark expectations.</a:t>
            </a:r>
          </a:p>
          <a:p>
            <a:r>
              <a:rPr lang="en-US" dirty="0"/>
              <a:t>• Beta measured fund sensitivity to overall market movements.</a:t>
            </a:r>
          </a:p>
          <a:p>
            <a:r>
              <a:rPr lang="en-US" b="1" dirty="0"/>
              <a:t>Conclusion</a:t>
            </a:r>
          </a:p>
          <a:p>
            <a:r>
              <a:rPr lang="en-US" b="1" dirty="0"/>
              <a:t>Risk-adjusted metrics help identify funds that generate superior returns while maintaining acceptable levels of risk.</a:t>
            </a:r>
            <a:endParaRPr lang="en-US" dirty="0"/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8A133A7-FE3F-C93A-01C2-D426D8A0A8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237" y="3159683"/>
            <a:ext cx="3435527" cy="25300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96704B1-3C4E-ACA8-49BF-3A022C49DE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236" y="1168248"/>
            <a:ext cx="8625323" cy="1879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85957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D55F2D4-C20E-BEBC-1CCF-4449B0456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9987" y="457199"/>
            <a:ext cx="5405120" cy="1091627"/>
          </a:xfrm>
        </p:spPr>
        <p:txBody>
          <a:bodyPr/>
          <a:lstStyle/>
          <a:p>
            <a:r>
              <a:rPr lang="en-US" dirty="0"/>
              <a:t>Advanced Risk &amp; Return Metrics</a:t>
            </a:r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58AC0C8B-8A7A-9FAE-2D0F-4D1C3A8C3F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3570" y="4246880"/>
            <a:ext cx="8855710" cy="2444054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Key Points</a:t>
            </a:r>
          </a:p>
          <a:p>
            <a:r>
              <a:rPr lang="en-US" dirty="0"/>
              <a:t>• CAGR measured long-term annualized growth of mutual fund investments.</a:t>
            </a:r>
          </a:p>
          <a:p>
            <a:r>
              <a:rPr lang="en-US" dirty="0"/>
              <a:t>• Volatility quantified fluctuations in fund returns and overall risk exposure.</a:t>
            </a:r>
          </a:p>
          <a:p>
            <a:r>
              <a:rPr lang="en-US" dirty="0"/>
              <a:t>• </a:t>
            </a:r>
            <a:r>
              <a:rPr lang="en-US" dirty="0" err="1"/>
              <a:t>VaR</a:t>
            </a:r>
            <a:r>
              <a:rPr lang="en-US" dirty="0"/>
              <a:t> and </a:t>
            </a:r>
            <a:r>
              <a:rPr lang="en-US" dirty="0" err="1"/>
              <a:t>CVaR</a:t>
            </a:r>
            <a:r>
              <a:rPr lang="en-US" dirty="0"/>
              <a:t> estimated potential downside losses under adverse market conditions.</a:t>
            </a:r>
          </a:p>
          <a:p>
            <a:r>
              <a:rPr lang="en-US" b="1" dirty="0"/>
              <a:t>Conclusion</a:t>
            </a:r>
          </a:p>
          <a:p>
            <a:r>
              <a:rPr lang="en-US" b="1" dirty="0"/>
              <a:t>Advanced risk metrics provide deeper insights into portfolio stability, downside protection, and long-term investment performance.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2CE1B8-1C92-D6D2-444B-652DB90E86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DF574F4-F677-1999-F65B-F06D09AABC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570" y="1577975"/>
            <a:ext cx="8124190" cy="241490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F37A940-BFCF-34B2-6B80-19D866A8C1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09692" y="1548827"/>
            <a:ext cx="2904788" cy="2444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16196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443EC8A-1733-CCF7-081F-EB4667CB3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2868"/>
            <a:ext cx="3657600" cy="600075"/>
          </a:xfrm>
        </p:spPr>
        <p:txBody>
          <a:bodyPr/>
          <a:lstStyle/>
          <a:p>
            <a:r>
              <a:rPr lang="en-US" dirty="0"/>
              <a:t>Dashboard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336557E-D099-EB19-691F-FD2E4995EB8C}"/>
              </a:ext>
            </a:extLst>
          </p:cNvPr>
          <p:cNvPicPr>
            <a:picLocks noGrp="1" noChangeAspect="1"/>
          </p:cNvPicPr>
          <p:nvPr>
            <p:ph idx="13"/>
          </p:nvPr>
        </p:nvPicPr>
        <p:blipFill>
          <a:blip r:embed="rId3"/>
          <a:stretch>
            <a:fillRect/>
          </a:stretch>
        </p:blipFill>
        <p:spPr>
          <a:xfrm>
            <a:off x="90967" y="692943"/>
            <a:ext cx="5907357" cy="3677920"/>
          </a:xfr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B69D854-FB65-0E93-CFE2-041F7C41DD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035E499-6917-0D30-7865-1084180EBF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1660" y="2733040"/>
            <a:ext cx="6070340" cy="4124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21017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136FCF6-982C-CC37-9625-3EBFC7E7D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2483" y="105756"/>
            <a:ext cx="3536591" cy="587187"/>
          </a:xfrm>
        </p:spPr>
        <p:txBody>
          <a:bodyPr/>
          <a:lstStyle/>
          <a:p>
            <a:r>
              <a:rPr lang="en-US" dirty="0"/>
              <a:t>dashboard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13EEC9-16E3-6C86-97D0-A7EC7EA09C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E8422E1-F50E-DA4F-D134-F387EE07DB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3551" y="1297210"/>
            <a:ext cx="5943601" cy="458543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8436BB5-1F11-8B9D-283F-D9305F6F9D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848" y="1297210"/>
            <a:ext cx="5943600" cy="4585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99961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8D62608-F5E4-7EC0-5EF0-4F988DDDE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0564" y="1057274"/>
            <a:ext cx="9875463" cy="588646"/>
          </a:xfrm>
        </p:spPr>
        <p:txBody>
          <a:bodyPr/>
          <a:lstStyle/>
          <a:p>
            <a:r>
              <a:rPr lang="en-US" dirty="0"/>
              <a:t>Key findings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288BD9B8-D6A6-D55A-830D-4D3CC2DC39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55924" y="1696720"/>
            <a:ext cx="10549996" cy="5140960"/>
          </a:xfrm>
        </p:spPr>
        <p:txBody>
          <a:bodyPr>
            <a:normAutofit fontScale="70000" lnSpcReduction="20000"/>
          </a:bodyPr>
          <a:lstStyle/>
          <a:p>
            <a:r>
              <a:rPr lang="en-US" b="1" dirty="0"/>
              <a:t>1. Strong Industry Growth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Total AUM reached </a:t>
            </a:r>
            <a:r>
              <a:rPr lang="en-US" b="1" dirty="0"/>
              <a:t>₹39.2M Cr</a:t>
            </a:r>
            <a:r>
              <a:rPr lang="en-US" dirty="0"/>
              <a:t> while SIP inflows exceeded </a:t>
            </a:r>
            <a:r>
              <a:rPr lang="en-US" b="1" dirty="0"/>
              <a:t>₹217.2M</a:t>
            </a:r>
            <a:r>
              <a:rPr lang="en-US" dirty="0"/>
              <a:t>, indicating continued expansion of the mutual fund industry.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Industry AUM peaked during 2024–2025, reflecting growing investor participation. </a:t>
            </a:r>
          </a:p>
          <a:p>
            <a:r>
              <a:rPr lang="en-US" b="1" dirty="0"/>
              <a:t>2. Market Leadership Concentration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SBI Mutual Fund, ICICI Prudential MF, and HDFC Mutual Fund</a:t>
            </a:r>
            <a:r>
              <a:rPr lang="en-US" dirty="0"/>
              <a:t> consistently maintained the highest Assets Under Management (AUM).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 significant share of industry assets is concentrated among a few leading fund houses. </a:t>
            </a:r>
          </a:p>
          <a:p>
            <a:r>
              <a:rPr lang="en-US" b="1" dirty="0"/>
              <a:t>3. Equity Funds Dominate Investments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Equity-oriented schemes attracted substantially higher investment flows than debt schemes.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Category-wise inflow analysis shows investors preferred growth-oriented investments over conservative debt products. </a:t>
            </a:r>
          </a:p>
          <a:p>
            <a:r>
              <a:rPr lang="en-US" b="1" dirty="0"/>
              <a:t>4. Risk-Adjusted Performance Varies Across Funds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Sharpe Ratio, </a:t>
            </a:r>
            <a:r>
              <a:rPr lang="en-US" dirty="0" err="1"/>
              <a:t>Sortino</a:t>
            </a:r>
            <a:r>
              <a:rPr lang="en-US" dirty="0"/>
              <a:t> Ratio, Alpha, and Beta metrics revealed notable differences in fund performance.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Several schemes delivered strong returns while maintaining acceptable risk levels, making them attractive investment options. </a:t>
            </a:r>
          </a:p>
          <a:p>
            <a:r>
              <a:rPr lang="en-US" b="1" dirty="0"/>
              <a:t>5. SIPs Drive Long-Term Participation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SIP inflows remained a major contributor to mutual fund investments.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Consistent SIP activity indicates strong investor confidence in long-term wealth creation through systematic investing. </a:t>
            </a:r>
          </a:p>
          <a:p>
            <a:r>
              <a:rPr lang="en-US" b="1" dirty="0"/>
              <a:t>6. Investor Participation Is Broadly Distributed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Transaction analysis shows participation across multiple states and age groups.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26–45 age segment represents the most active investor base, highlighting strong engagement from working professionals.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DCFAD14-1AAA-8CDA-A49B-523FD6C66F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80216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D22C5-0C9E-B582-A8FE-B45E70A01E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1" y="849782"/>
            <a:ext cx="5715000" cy="2727709"/>
          </a:xfrm>
        </p:spPr>
        <p:txBody>
          <a:bodyPr/>
          <a:lstStyle/>
          <a:p>
            <a:r>
              <a:rPr lang="en-US" dirty="0"/>
              <a:t>Thank </a:t>
            </a:r>
            <a:br>
              <a:rPr lang="en-US" dirty="0"/>
            </a:br>
            <a:r>
              <a:rPr lang="en-US" dirty="0"/>
              <a:t>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B5CEF2-E667-BBB5-2EA6-C06F93B6DE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1" y="3813606"/>
            <a:ext cx="5715000" cy="2234642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This project demonstrated the application of Python, SQL, SQLite, and Power BI for mutual fund analytics, risk assessment, investor behavior analysis, and business intelligence reporting.</a:t>
            </a:r>
          </a:p>
          <a:p>
            <a:r>
              <a:rPr lang="en-US" b="1" dirty="0"/>
              <a:t>Presented By:</a:t>
            </a:r>
            <a:r>
              <a:rPr lang="en-US" dirty="0"/>
              <a:t> Suryakant Sharma</a:t>
            </a:r>
          </a:p>
        </p:txBody>
      </p:sp>
    </p:spTree>
    <p:extLst>
      <p:ext uri="{BB962C8B-B14F-4D97-AF65-F5344CB8AC3E}">
        <p14:creationId xmlns:p14="http://schemas.microsoft.com/office/powerpoint/2010/main" val="197317304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Sabon Next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ometric color block_Win32_SL_v14" id="{59749740-91A0-46B8-82A8-B436C7A8A142}" vid="{B3F8D047-377B-4FC8-B21C-47530C6DE3A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A719FA4-954C-4FA8-82CB-206659C3B82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16DBB56F-4362-4386-A1A1-3DF89889661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4948363-B267-4BAC-8655-100FBEC280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{6B4373DE-7B95-4725-867A-A44E677E27E2}TF8a9b5915-b8c7-461e-8cdd-693d48b5e32371f7b7e2_win32-4bf0b9a2ea37</Template>
  <TotalTime>60</TotalTime>
  <Words>890</Words>
  <Application>Microsoft Office PowerPoint</Application>
  <PresentationFormat>Widescreen</PresentationFormat>
  <Paragraphs>91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Arial Black</vt:lpstr>
      <vt:lpstr>Calibri</vt:lpstr>
      <vt:lpstr>Sabon Next LT</vt:lpstr>
      <vt:lpstr>Custom</vt:lpstr>
      <vt:lpstr>Bluestock fintech mutual fund analysis</vt:lpstr>
      <vt:lpstr>objectives</vt:lpstr>
      <vt:lpstr>Data sources</vt:lpstr>
      <vt:lpstr>architecture</vt:lpstr>
      <vt:lpstr>Data Quality &amp; Investor Demographics</vt:lpstr>
      <vt:lpstr>AUM &amp; SIP Trends</vt:lpstr>
      <vt:lpstr>Risk-Adjusted Performance Analysis</vt:lpstr>
      <vt:lpstr>Advanced Risk &amp; Return Metrics</vt:lpstr>
      <vt:lpstr>Dashboard</vt:lpstr>
      <vt:lpstr>dashboard</vt:lpstr>
      <vt:lpstr>Key findings</vt:lpstr>
      <vt:lpstr>Thank 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HITESH SHARMA</dc:creator>
  <cp:lastModifiedBy>HITESH SHARMA</cp:lastModifiedBy>
  <cp:revision>1</cp:revision>
  <dcterms:created xsi:type="dcterms:W3CDTF">2026-06-12T04:59:09Z</dcterms:created>
  <dcterms:modified xsi:type="dcterms:W3CDTF">2026-06-12T05:59:35Z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